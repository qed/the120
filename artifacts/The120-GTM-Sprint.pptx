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8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INVESTORS &amp; ADVISORS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400" b="1" kern="0" spc="-10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weeks to fill
</a:t>
            </a:r>
            <a:r>
              <a:rPr lang="en-US" sz="6400" b="1" kern="0" spc="-10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120.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summer go-to-market sprint: 200 interested families and 48–55 refundable $250 deposits by September 1 — so September fills the calendar on its own, and all 120 seats are committed by September 30.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5806440"/>
            <a:ext cx="3840480" cy="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13 – SEP 4, 2026  ·  TORONTO  ·  PETER KUPERMAN, FOUNDER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r>
              <a:rPr lang="en-US" sz="110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120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selective network of Toronto's 120 best and brightest students, grades 3–8, in five groups — </a:t>
            </a: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Scholars, Athletes, Makers, Founders, Givers.</a:t>
            </a:r>
            <a:r>
              <a:rPr lang="en-US" sz="14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Members keep their current school; The 120 is what school can't give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351525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944368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364992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Tin Can and The 120 Address Book — a screen-free bat phone to 119 true intellectual peers across the city, plus in-person gatherings all year.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8218" y="2395728"/>
            <a:ext cx="351525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425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4250" y="2944368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4250" y="3364992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super-interesting, year-long project per member — mentored, shipped, and demoed live at quarterly Toronto intensives. First one: Oct 31–Nov 1.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7797" y="2395728"/>
            <a:ext cx="351525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83829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83829" y="2944368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Subject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3829" y="3364992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advanced in 1–2 academic subjects on the GT / TimeBack platform — mastery-based, no ceiling, with a weekly 1:1 academic advisor.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94415" cy="1298448"/>
          </a:xfrm>
          <a:prstGeom prst="rect">
            <a:avLst/>
          </a:prstGeom>
          <a:solidFill>
            <a:srgbClr val="1314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2960" y="5687568"/>
            <a:ext cx="176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SEATS, TOTAL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41843" y="51206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041843" y="5687568"/>
            <a:ext cx="176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67523" y="5138928"/>
            <a:ext cx="0" cy="82296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60726" y="51206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260726" y="5687568"/>
            <a:ext cx="176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HRS / WEEK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86406" y="5138928"/>
            <a:ext cx="0" cy="82296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79609" y="51206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479609" y="5687568"/>
            <a:ext cx="176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MEMBERSHIP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05289" y="5138928"/>
            <a:ext cx="0" cy="82296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98492" y="51206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Sept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698492" y="5687568"/>
            <a:ext cx="176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KICK-OFF EVENT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424172" y="5138928"/>
            <a:ext cx="0" cy="82296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r>
              <a:rPr lang="en-US" sz="110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the summer, so September sells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901952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-10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04672" y="2761488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CONSENTED FAMILIES BY SEPT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3054096"/>
            <a:ext cx="3003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CASL-consented emails in the system — accounts, RSVPs, opt-ins. One number the whole funnel hangs off.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8218" y="169164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4250" y="1901952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-10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48–55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94250" y="2761488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$250 DEPOSITS BY SEPT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94250" y="3054096"/>
            <a:ext cx="3003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on live Stripe, verified. Real committed seats — and a truthful live seat count for the September push.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7797" y="169164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83829" y="1901952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-10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83829" y="2761488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 COMMITTED BY SEPT 30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83829" y="3054096"/>
            <a:ext cx="3003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goal: all 120 seats (113 open today) committed, with a waitlist behind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94415" cy="1417320"/>
          </a:xfrm>
          <a:prstGeom prst="rect">
            <a:avLst/>
          </a:prstGeom>
          <a:solidFill>
            <a:srgbClr val="1314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590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“$250, fully refundable until Sept 30. The only thing you can lose is the seat.”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32520" y="4663440"/>
            <a:ext cx="0" cy="77724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52560" y="46817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RISK REVERSAL —</a:t>
            </a:r>
            <a:endParaRPr lang="en-US" sz="950" dirty="0"/>
          </a:p>
          <a:p>
            <a:pPr marL="0" indent="0" algn="l">
              <a:buNone/>
            </a:pPr>
            <a:r>
              <a:rPr lang="en-US" sz="9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HONEST, HIGH-CONVICTION,</a:t>
            </a:r>
            <a:endParaRPr lang="en-US" sz="950" dirty="0"/>
          </a:p>
          <a:p>
            <a:pPr marL="0" indent="0" algn="l">
              <a:buNone/>
            </a:pPr>
            <a:r>
              <a:rPr lang="en-US" sz="9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EVERY PITCH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REALITY: SOLO FOUNDER + TWO DEVS ON TICKETS · ~20 GTM HOURS/WEEK · 10 CALLS/WEEK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r>
              <a:rPr lang="en-US" sz="110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FUNNEL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that fills the seats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Interested families (consented)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383280" y="1856232"/>
            <a:ext cx="2926080" cy="438912"/>
          </a:xfrm>
          <a:prstGeom prst="rect">
            <a:avLst/>
          </a:prstGeom>
          <a:solidFill>
            <a:srgbClr val="1314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19088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+ child dossier started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569464"/>
            <a:ext cx="1609344" cy="438912"/>
          </a:xfrm>
          <a:prstGeom prst="rect">
            <a:avLst/>
          </a:prstGeom>
          <a:solidFill>
            <a:srgbClr val="1314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02352" y="25420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r>
              <a:rPr lang="en-US" sz="8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55%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25526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submitted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3282696"/>
            <a:ext cx="1126541" cy="438912"/>
          </a:xfrm>
          <a:prstGeom prst="rect">
            <a:avLst/>
          </a:prstGeom>
          <a:solidFill>
            <a:srgbClr val="1314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9549" y="325526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r>
              <a:rPr lang="en-US" sz="8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70%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call booked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3995928"/>
            <a:ext cx="1316736" cy="438912"/>
          </a:xfrm>
          <a:prstGeom prst="rect">
            <a:avLst/>
          </a:prstGeom>
          <a:solidFill>
            <a:srgbClr val="1314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9744" y="396849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r>
              <a:rPr lang="en-US" sz="8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45%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6817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held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0" y="4709160"/>
            <a:ext cx="1053389" cy="438912"/>
          </a:xfrm>
          <a:prstGeom prst="rect">
            <a:avLst/>
          </a:prstGeom>
          <a:solidFill>
            <a:srgbClr val="1314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46397" y="4681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r>
              <a:rPr lang="en-US" sz="8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80% show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 deposit paid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5422392"/>
            <a:ext cx="760781" cy="438912"/>
          </a:xfrm>
          <a:prstGeom prst="rect">
            <a:avLst/>
          </a:prstGeom>
          <a:solidFill>
            <a:srgbClr val="D926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53789" y="5394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48–55</a:t>
            </a:r>
            <a:r>
              <a:rPr lang="en-US" sz="8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~60%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01000" y="1783080"/>
            <a:ext cx="3642055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0" y="196596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REALITY CHECKS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2231136"/>
            <a:ext cx="3184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new leads/week over 7 active weeks.  10 calls/week ≈ 2 a day — sustainable solo.  48–55 deposits leaves ~60 seats for the September machine.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01000" y="3401568"/>
            <a:ext cx="36420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0" y="3584448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TRIPWIRE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3849624"/>
            <a:ext cx="3184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stage running 30% under plan for two weeks becomes the next week's primary push — regardless of plan.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01000" y="4709160"/>
            <a:ext cx="3642055" cy="1371600"/>
          </a:xfrm>
          <a:prstGeom prst="rect">
            <a:avLst/>
          </a:prstGeom>
          <a:solidFill>
            <a:srgbClr val="1314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0" y="4892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 UNBLOCKS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5157216"/>
            <a:ext cx="3184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live keys, the booking link, and an email provider don't exist yet. No real deposit can be taken until they ship — Week 1 exists to fix all three.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r>
              <a:rPr lang="en-US" sz="110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phases. One verb each.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864" cy="2743200"/>
          </a:xfrm>
          <a:prstGeom prst="rect">
            <a:avLst/>
          </a:prstGeom>
          <a:solidFill>
            <a:srgbClr val="1A1C20"/>
          </a:solidFill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" y="2029968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10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8096" y="2606040"/>
            <a:ext cx="212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W1–2 · JUL 13–26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" y="2926080"/>
            <a:ext cx="212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machine; ignite the warm network.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" y="3950208"/>
            <a:ext cx="2128952" cy="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096" y="4069080"/>
            <a:ext cx="212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INTERESTED · 20 CALLS BOOKED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34792" y="29718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90824" y="1828800"/>
            <a:ext cx="2567864" cy="2743200"/>
          </a:xfrm>
          <a:prstGeom prst="rect">
            <a:avLst/>
          </a:prstGeom>
          <a:solidFill>
            <a:srgbClr val="1A1C20"/>
          </a:solidFill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10280" y="2029968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10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610280" y="2606040"/>
            <a:ext cx="212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W3–4 · JUL 27–AUG 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0280" y="2926080"/>
            <a:ext cx="212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in the communities where the 120 already hang out.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10280" y="3950208"/>
            <a:ext cx="2128952" cy="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10280" y="4069080"/>
            <a:ext cx="212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 INTERESTED · FIRST 15 DEPOSITS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76976" y="29718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33008" y="1828800"/>
            <a:ext cx="2567864" cy="2743200"/>
          </a:xfrm>
          <a:prstGeom prst="rect">
            <a:avLst/>
          </a:prstGeom>
          <a:solidFill>
            <a:srgbClr val="1A1C20"/>
          </a:solidFill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52464" y="2029968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10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452464" y="2606040"/>
            <a:ext cx="212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W5–6 · AUG 10–23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52464" y="2926080"/>
            <a:ext cx="212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on the five groups, then gather everyone.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52464" y="3950208"/>
            <a:ext cx="2128952" cy="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52464" y="4069080"/>
            <a:ext cx="212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 INTERESTED · 32 DEPOSITS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19159" y="29718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75191" y="1828800"/>
            <a:ext cx="2567864" cy="2743200"/>
          </a:xfrm>
          <a:prstGeom prst="rect">
            <a:avLst/>
          </a:prstGeom>
          <a:solidFill>
            <a:srgbClr val="1A1C20"/>
          </a:solidFill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94647" y="2029968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10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294647" y="2606040"/>
            <a:ext cx="212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W7–8 · AUG 24–SEP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94647" y="2926080"/>
            <a:ext cx="212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deposits; hand off to September.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294647" y="3950208"/>
            <a:ext cx="2128952" cy="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94647" y="4069080"/>
            <a:ext cx="212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200+ INTERESTED · 48–55 DEPOSITS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983480"/>
            <a:ext cx="11094415" cy="1051560"/>
          </a:xfrm>
          <a:prstGeom prst="rect">
            <a:avLst/>
          </a:prstGeom>
          <a:solidFill>
            <a:srgbClr val="131416"/>
          </a:solidFill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5148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CONSTANT WEEKLY RHYTHM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5413248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r>
              <a:rPr lang="en-US" sz="1200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pick the one push, send the week's email      </a:t>
            </a:r>
            <a:r>
              <a:rPr lang="en-US" sz="12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TUE–THU</a:t>
            </a:r>
            <a:r>
              <a:rPr lang="en-US" sz="1200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two calls a day + the push      </a:t>
            </a:r>
            <a:r>
              <a:rPr lang="en-US" sz="12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r>
              <a:rPr lang="en-US" sz="1200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metrics vs. the funnel, thank-yous, shout-outs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1996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CADENCE AND NAMED PHASES BORROWED FROM FOUNDERS.SCHOOL'S “YEAR IN DETAIL” — NEVER MORE THAN ONE PRIMARY PUSH PER WEEK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</a:t>
            </a:r>
            <a:r>
              <a:rPr lang="en-US" sz="110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BY WEEK — FIRST HALF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the machine, then seed the communities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— ARM</a:t>
            </a:r>
            <a:r>
              <a:rPr lang="en-US" sz="1100" kern="0" spc="1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JUL 13–26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78728" y="162763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— SEED</a:t>
            </a:r>
            <a:r>
              <a:rPr lang="en-US" sz="1100" kern="0" spc="1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JUL 27–AUG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217627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· JUL 13–19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2432304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online + the warm 25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" y="2798064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goes live, the booking link ships, the email provider gets wired. Personal notes — not blasts — to the 25 warmest families. The one-page explainer PDF ships.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" y="3621024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WARM CONVOS · 10 CALLS BOOKED · MACHINE 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4343400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· JUL 20–26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4599432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the ambassadors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" y="4965192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 grade 7/8 Founding Ambassadors recruited through the kids' own networks; one virtual kickoff with kids and parents; referral codes issued; the Gauntlet tournament soft-launches to seed the leaderboard.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578815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AMBASSADORS · 40 INTERESTED CUM.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78728" y="1993392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16472" y="217627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· JUL 27–AUG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16472" y="2432304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Gifted-parent communities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6472" y="2798064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Value-first founder posts (real TimeBack data, real kids) in Ontario gifted-parent groups and ABC Ontario chapters — PDF by DM, never cold links. Three “120 coffees” with connector parents.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6472" y="3621024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INTERESTED CUM. · 30 CALLS BOOKED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78728" y="4160520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6472" y="4343400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· AUG 3–9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16472" y="4599432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Gauntlet goes public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16472" y="4965192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3-week public leaderboard tournament in grade bands, weekly boss themes. Winners earn a permanent Founding Leaderboard spot and first demo slot at the October intensive. Kids recruit kids.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6472" y="578815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 INTERESTED CUM. · FIRST 15 DEPOSITS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</a:t>
            </a:r>
            <a:r>
              <a:rPr lang="en-US" sz="110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BY WEEK — SECOND HALF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 on the five groups, then land the deposits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— SURGE</a:t>
            </a:r>
            <a:r>
              <a:rPr lang="en-US" sz="1100" kern="0" spc="1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AUG 10–23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78728" y="162763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 — LAND</a:t>
            </a:r>
            <a:r>
              <a:rPr lang="en-US" sz="1100" kern="0" spc="1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AUG 24–SEP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217627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· AUG 10–16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2432304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Five-group verticals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" y="2798064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tailored outreach per group: Scholars via math-contest circles, Athletes via rep-team parent reps, Makers via arts programs, Founders via kid-entrepreneur fairs, Givers via community orgs. Organizers forward — we never blast their lists.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" y="3621024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 INTERESTED CUM. · 22 DEPOSITS CUM.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4343400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· AUG 17–23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4599432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sessions week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" y="4965192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45-minute virtual info sessions plus one in-person Toronto meetup — kids play the Gauntlet live on a projector while parents talk. Every RSVP is a consented lead; every attendee gets a next-day recap and booking link.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578815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 INTERESTED CUM. · 32 DEPOSITS CUM.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78728" y="1993392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16472" y="217627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 · AUG 24–30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16472" y="2432304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deposit push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6472" y="2798064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back-to-school moment: a 3-email sequence, personal calls to every submitted-dossier family, and a truthful live seat count. Families deposited by Sept 1 are named the Founding 120 at the October intensive.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6472" y="3621024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 INTERESTED CUM. · 45 DEPOSITS CUM.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78728" y="4160520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6472" y="4343400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W8 · AUG 31–SEP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16472" y="4599432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landing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16472" y="4965192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Hand-off week: nurture automation verified end-to-end, ambassador back-to-school kits delivered, waitlist copy ready, 12 call slots a week open through October, and the “year begins” email goes out.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6472" y="578815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200+ INTERESTED · 48–55 DEPOSITS · 20+ SEPT CALLS PRE-BOOKED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</a:t>
            </a:r>
            <a:r>
              <a:rPr lang="en-US" sz="110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BIGGEST ORGANIC CHANNEL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 are the engine, not the audience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776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965960"/>
            <a:ext cx="3465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</a:t>
            </a:r>
            <a:r>
              <a:rPr lang="en-US" sz="13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grade 7/8 ambassadors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697480"/>
            <a:ext cx="3465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3–5</a:t>
            </a:r>
            <a:r>
              <a:rPr lang="en-US" sz="13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genuinely interested families each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04672" y="3364992"/>
            <a:ext cx="3465576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3493008"/>
            <a:ext cx="3465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40–70 leads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04672" y="4133088"/>
            <a:ext cx="3465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7/8 KIDS ARE THE MOST NETWORKED — AND MOST CREDIBLE — VOICE TO OTHER KIDS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0" y="1792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737360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friends to the Gauntlet  —  </a:t>
            </a:r>
            <a:r>
              <a:rPr lang="en-US" sz="12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referral code rides on every shared score card.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2532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478024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family to an info session  —  </a:t>
            </a:r>
            <a:r>
              <a:rPr lang="en-US" sz="12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to the August in-person Toronto meetup.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3273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3218688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2-minute “why I'm in”  —  </a:t>
            </a:r>
            <a:r>
              <a:rPr lang="en-US" sz="12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 voice sells better than any deck — including this one.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40142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3959352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off the Tin Can  —  </a:t>
            </a:r>
            <a:r>
              <a:rPr lang="en-US" sz="12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bat phone is a physical, enviable object.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94415" cy="1207008"/>
          </a:xfrm>
          <a:prstGeom prst="rect">
            <a:avLst/>
          </a:prstGeom>
          <a:solidFill>
            <a:srgbClr val="1314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ETHICS 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5340096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Recognition, never cash. No per-signup payments to minors, no quotas, parent consent on everything — and CASL-clean: leads only arrive when a family acts themselves. Tracking is one referral-code field and a Friday tally; no extra tooling.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</a:t>
            </a:r>
            <a:r>
              <a:rPr lang="en-US" sz="110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THE LEADS COME FROM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channels, ranked by leverage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61872" y="181965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Gauntlet Summer Tournament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81965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leaderboard sprint on the free math trainer — the only channel where the product markets itself to the actual member. Kids recruit kids.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38360" y="1883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738360" y="20665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44200" y="1883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744200" y="20665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" y="28712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1872" y="267919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Ontario gifted-parent communities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67919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Ontario chapters, gifted/IEP parent groups, Toronto parenting threads. Exactly the top-1–2% parent, already searching for this.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383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738360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74420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744200" y="2926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MED-HIGH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56432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6384" y="3730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61872" y="3538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Math-contest ecosystem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34840" y="353872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CEMC / Math Kangaroo parent circles and math-circle coaches. A pre-qualified Scholars pipeline — contest parents pay for acceleration.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38360" y="3602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738360" y="3785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744200" y="3602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744200" y="3785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315968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6384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61872" y="439826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Rep-sports &amp; arts verticals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34840" y="4398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parent-rep per rep team, one director per arts program forwards the one-pager. Athletes and Makers seats won't fill from math channels.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38360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73836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744200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744200" y="4645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75504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86384" y="5449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61872" y="525780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“120 Coffees”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34840" y="52578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coffees a week with Toronto connector-parents; each one ends with an ask for two introductions. Deposits at this price close on trust.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738360" y="5321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738360" y="5504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744200" y="5321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744200" y="5504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</a:t>
            </a:r>
            <a:r>
              <a:rPr lang="en-US" sz="110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HAND-OFF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1 — definition of done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242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764792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consented families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2057400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email system, tagged by stage and source.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78728" y="18242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62776" y="1764792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48+ deposits paid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62776" y="2057400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Stripe, verified; ~58–65 seats showing — real scarcity.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6654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606040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link open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2688" y="2898648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slots/week through October; 20+ September calls pre-booked.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8728" y="2670048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78728" y="26654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606040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Nurture running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62776" y="2898648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sequences fill the calendar by themselves.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5067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3447288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Ambassadors back in school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" y="3739896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 kids with kits, codes, and a September Gauntlet season.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78728" y="3511296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78728" y="35067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62776" y="3447288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#1 sellable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62776" y="3739896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31–Nov 1 date and city in all copy; venue locked internally.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352544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43479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4288536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mechanics ready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32688" y="4581144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Copy, form, and admin flow for when groups fill — Scholars caps first.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138928"/>
            <a:ext cx="11094415" cy="1051560"/>
          </a:xfrm>
          <a:prstGeom prst="rect">
            <a:avLst/>
          </a:prstGeom>
          <a:solidFill>
            <a:srgbClr val="1314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NURTURE MACHINE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5559552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automated sequences — account created, dossier submitted, call held, deposit paid, stalled 14 days. Every email ends with one CTA: book the call or finish the dossier.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100" kern="0" spc="20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 need your wisdom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honest about what it doesn't know. These five decisions are where an hour of your experience is worth more than a month of mine.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1525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" y="2596896"/>
            <a:ext cx="3039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#1 venue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962656"/>
            <a:ext cx="30397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Mid-Sept Kick-Off event is the closing argument in every call and email. Venue leads in Toronto, e.g. spaces, schools, partners need to get figured out.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8218" y="2148840"/>
            <a:ext cx="351525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5962" y="23317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5962" y="2596896"/>
            <a:ext cx="3039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 ops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5962" y="2962656"/>
            <a:ext cx="30397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reviews dossiers, on what SLA, and is the assessment ready before deposits pile up? A 48-deposit pipeline with no assessment path is a refund machine.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27797" y="2148840"/>
            <a:ext cx="351525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65541" y="23317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65541" y="2596896"/>
            <a:ext cx="3039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on calls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65541" y="2962656"/>
            <a:ext cx="30397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sells the $3,000 Membership everywhere and up-sells the $15,000 Full Academic Core on the call. Is that still the right play?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41004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" y="4389120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" y="4654296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86384" y="5020056"/>
            <a:ext cx="493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parents, rep-team coaches, camp directors, heads of gifted programs. Also Private Ski Club lists. Every warm introduction compounds — one is a genuine gift.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3008" y="4206240"/>
            <a:ext cx="541004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70752" y="4389120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0752" y="4654296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policy per group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70752" y="5020056"/>
            <a:ext cx="493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5 groups, should we do ~24 seats per group? Scholars may oversubscribe first so do extra Scholars wait-list, get steered to another group or do we overweight?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-10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me fill </a:t>
            </a:r>
            <a:r>
              <a:rPr lang="en-US" sz="5400" b="1" kern="0" spc="-10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120.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built and the machine goes live Monday, July 13. What compounds fastest now is trust — and trust travels through people like you.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877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introduction:  </a:t>
            </a:r>
            <a:r>
              <a:rPr lang="en-US" sz="1400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connector parent, coach, or program director.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98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4622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hour of advice :  </a:t>
            </a:r>
            <a:r>
              <a:rPr lang="en-US" sz="1400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any of the five asks, i.e. venue, admissions, pricing, intros, seats.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0840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forward :  </a:t>
            </a:r>
            <a:r>
              <a:rPr lang="en-US" sz="1400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one-pager to a family you'd personally vouch for.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943600"/>
            <a:ext cx="3840480" cy="0"/>
          </a:xfrm>
          <a:prstGeom prst="line">
            <a:avLst/>
          </a:prstGeom>
          <a:noFill/>
          <a:ln w="12700">
            <a:solidFill>
              <a:srgbClr val="2A2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0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PETER KUPERMAN  ·  PKUPERMAN@GMAIL.COM  ·  THE120.SCHOOL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2147</Words>
  <Application>Microsoft Office PowerPoint</Application>
  <PresentationFormat>Widescreen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Kuperman</cp:lastModifiedBy>
  <cp:revision>3</cp:revision>
  <dcterms:created xsi:type="dcterms:W3CDTF">2026-07-12T10:59:38Z</dcterms:created>
  <dcterms:modified xsi:type="dcterms:W3CDTF">2026-07-12T11:17:26Z</dcterms:modified>
</cp:coreProperties>
</file>