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weeks to fill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120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week by week.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summer go-to-market sprint in full detail: every marketing activity, every week, and how each one delivers 200 interested families and 48–55 refundable $250 deposits by September 1 — so September fills the calendar on its own, and all 120 seats are committed by September 30.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257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so The Notable Group can propose where its capabilities compound the plan.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080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13 – SEP 4, 2026   ·   TORONTO   ·   PETER KUPERMAN, FOUNDER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120 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selective network of Toronto's 120 best and brightest students, grades 3–8, in five groups —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Scholars, Athletes, Makers, Founders, Givers.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Members keep their current school; The 120 is what school can't give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630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26974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108960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Tin Can and The 120 Address Book — a screen-free bat phone to 119 true intellectual peers across the city, plus in-person gatherings all year.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2148840"/>
            <a:ext cx="3630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35424" y="26974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5424" y="3108960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super-interesting, year-long project per member — mentored, shipped, and demoed live at quarterly Toronto intensives. First one: Oct 31–Nov 1.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2148840"/>
            <a:ext cx="3630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57616" y="26974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7616" y="3108960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advanced in 1–2 academic subjects on the GT / TimeBack platform — mastery-based, no ceiling, with a weekly 1:1 academic advisor.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11274552" cy="1234440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29200"/>
            <a:ext cx="1889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5431536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SEATS, TOTAL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3032150" y="5029200"/>
            <a:ext cx="1889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032150" y="5431536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287061" y="5029200"/>
            <a:ext cx="1889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87061" y="5431536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HRS / WEEK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541971" y="5029200"/>
            <a:ext cx="1889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41971" y="5431536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MEMBERSHIP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9796882" y="5029200"/>
            <a:ext cx="1889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Sept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796882" y="5431536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KICK-OFF EVENT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the summer, so September sells itself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30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0020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30428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CONSENTED FAMILIES BY SEPT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265176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CASL-consented emails in the system — accounts, info-session RSVPs, opt-ins. One number the whole funnel hangs off: ~29 new families a week for 7 active weeks.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9392" y="1417320"/>
            <a:ext cx="3630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60020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48–55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35424" y="230428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$250 DEPOSITS BY SEPT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35424" y="265176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on live Stripe, verified. Real committed seats — and a truthful live seat count that powers the September urgency push.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6301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60020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357616" y="230428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 COMMITTED BY SEPT 30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57616" y="265176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goal: all 120 seats (113 open today) committed, with a waitlist behind them. September's nurture machine closes the last ~60.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74552" cy="1280160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15968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“$250, fully refundable until Sept 30. The only thing you can lose is the seat.”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431596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RISK REVERSAL —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HONEST, HIGH-CONVICTION,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EVERY PITCH, EVERY WEEK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REALITY: SOLO FOUNDER + TWO DEVS ON TICKETS · ~20 GTM HOURS/WEEK · 10 CALLS/WEEK · ONE PRIMARY PUSH PER WEEK, NEVER MORE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FUNNEL MATH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that fills the seats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Interested families (consented)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46120" y="1481328"/>
            <a:ext cx="3931920" cy="310896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7" name="Text 5"/>
          <p:cNvSpPr/>
          <p:nvPr/>
        </p:nvSpPr>
        <p:spPr>
          <a:xfrm>
            <a:off x="7242048" y="14813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+ child dossier started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55% OF INTERESTED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46120" y="2139696"/>
            <a:ext cx="2162556" cy="310896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1" name="Text 9"/>
          <p:cNvSpPr/>
          <p:nvPr/>
        </p:nvSpPr>
        <p:spPr>
          <a:xfrm>
            <a:off x="5472684" y="21396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797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submitted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70% OF STARTED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46120" y="2798064"/>
            <a:ext cx="1513789" cy="310896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5" name="Text 13"/>
          <p:cNvSpPr/>
          <p:nvPr/>
        </p:nvSpPr>
        <p:spPr>
          <a:xfrm>
            <a:off x="4823917" y="27980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38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call booked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6941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45% OF INTERESTED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46120" y="3456432"/>
            <a:ext cx="1769364" cy="310896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9" name="Text 17"/>
          <p:cNvSpPr/>
          <p:nvPr/>
        </p:nvSpPr>
        <p:spPr>
          <a:xfrm>
            <a:off x="5079492" y="34564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096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held (no-show ~20%)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3525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OF BOOKED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46120" y="4114800"/>
            <a:ext cx="1415491" cy="310896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3" name="Text 21"/>
          <p:cNvSpPr/>
          <p:nvPr/>
        </p:nvSpPr>
        <p:spPr>
          <a:xfrm>
            <a:off x="4725619" y="41148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 deposit paid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50109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~60% OF HELD CALLS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46120" y="4773168"/>
            <a:ext cx="1022299" cy="310896"/>
          </a:xfrm>
          <a:prstGeom prst="rect">
            <a:avLst/>
          </a:prstGeom>
          <a:solidFill>
            <a:srgbClr val="D92632"/>
          </a:solidFill>
          <a:ln/>
        </p:spPr>
      </p:sp>
      <p:sp>
        <p:nvSpPr>
          <p:cNvPr id="27" name="Text 25"/>
          <p:cNvSpPr/>
          <p:nvPr/>
        </p:nvSpPr>
        <p:spPr>
          <a:xfrm>
            <a:off x="4332427" y="47731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48–55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1463040"/>
            <a:ext cx="350215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1645920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REALITY CHECKS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1938528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leads/week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200 over 7 active weeks.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calls/week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a day, sustainable solo.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48–55 deposits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leaves ~60 September seats — fed by nurture, evangelist parents, back-to-school urgency.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3611880"/>
            <a:ext cx="3502152" cy="1234440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77647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TRIPWIRE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406908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stage running 30% under plan for two weeks becomes the next week's primary push — regardless of plan.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57150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WEEK-1 BLOCKERS: </a:t>
            </a:r>
            <a:pPr indent="0" marL="0">
              <a:buNone/>
            </a:pPr>
            <a:r>
              <a:rPr lang="en-US" sz="850" spc="1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STRIPE IS TEST-MODE · NO BOOKING LINK · NO EMAIL PROVIDER. NO DEPOSIT CAN BE TAKEN UNTIL ALL THREE SHIP — WEEK 1 FIXES THEM.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 </a:t>
            </a:r>
            <a:pPr indent="0" marL="0">
              <a:buNone/>
            </a:pPr>
            <a:r>
              <a:rPr lang="en-US" sz="100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 AT A GLANCE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phases. One verb each. One push per week.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609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7C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6420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212140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W1–2 · JUL 13–26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76656" y="2450592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machine; ignite the warm network and recruit kid ambassadors.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6656" y="36118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spc="100" kern="0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INTERESTED · 20 CALLS BOOKED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28416" y="1463040"/>
            <a:ext cx="26609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7C4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66420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47872" y="212140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W3–4 · JUL 27–AUG 9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47872" y="2450592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in the communities where the 120 already hang out; the Gauntlet goes public.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47872" y="36118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spc="100" kern="0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 INTERESTED · FIRST 15 DEPOSITS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99632" y="1463040"/>
            <a:ext cx="26609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7C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66420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19088" y="212140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W5–6 · AUG 10–23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19088" y="2450592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on the five groups, then gather everyone at info sessions.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19088" y="36118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spc="100" kern="0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 INTERESTED · 32 DEPOSITS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70848" y="1463040"/>
            <a:ext cx="26609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7C4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0304" y="166420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90304" y="212140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W7–8 · AUG 24–SEP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290304" y="2450592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deposits on the back-to-school moment; hand off to September.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90304" y="36118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spc="100" kern="0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200+ INTERESTED · 48–55 DEPOSITS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74552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71830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CONSTANT WEEKLY RHYTHM — SAME CADENCE, ALL EIGHT WEEKS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5029200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 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one push, send the week's email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06824" y="5029200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TUE–THU 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calls a day + the push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82128" y="5029200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vs. the funnel, thank-yous, ambassador shout-outs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CADENCE AND NAMED PHASES BORROWED FROM FOUNDERS.SCHOOL'S “YEAR IN DETAIL” — NEVER MORE THAN ONE PRIMARY PUSH PER WEEK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 OF 8 · PHASE 1 — ARM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JUL 13–19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106863" y="384048"/>
            <a:ext cx="155448" cy="155448"/>
          </a:xfrm>
          <a:prstGeom prst="rect">
            <a:avLst/>
          </a:prstGeom>
          <a:solidFill>
            <a:srgbClr val="0000EF"/>
          </a:solidFill>
          <a:ln w="9525">
            <a:solidFill>
              <a:srgbClr val="0000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7175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7487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8111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8423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9047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836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push:  </a:t>
            </a:r>
            <a:pPr indent="0" marL="0">
              <a:buNone/>
            </a:pPr>
            <a:r>
              <a:rPr lang="en-US" sz="26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online + the warm 25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6903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WEEK'S WORK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847088"/>
            <a:ext cx="6400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 on the machine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Cal.com booking link created and wired to every Book-a-call button; Stripe moves from test mode to live keys with one real $250 charge/refund verified; email provider picked (Resend / Customer.io) and welcome email #1 wired.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attribution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ticket for a “How did you hear about us? / referral code” field on account creation, so every later channel is measurable from day one.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the 25 warmest contacts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UTS circles, the 7 founding families, /parents story families. Personal notes and coffees, never blasts.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pipeline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intro calls booked from the warm list before Sunday.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71232" y="13716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536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SHIPS THIS WEEK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99832" y="18288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explainer PDF — five groups, $3,000 membership, refundable $250 deposit, Oct 31 intensive — plus welcome email #1.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71232" y="336499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35295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99832" y="38039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email and text · coffees · no paid, no broadcast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99832" y="4370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SCOREBOARD BY FRIDAY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9983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983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 CONVOS STARTED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03427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3427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BOOKED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026871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6871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STRIPE · BOOKING · EMAIL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" y="5413248"/>
            <a:ext cx="11274552" cy="932688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046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WEEK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DELIVERS THE GOAL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31720" y="5486400"/>
            <a:ext cx="9189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this plan can convert until this week ships: booking, payments and email are the rails every later week runs on — and the warm 25 seed the first 10 of the 90 calls the funnel needs.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 OF 8 · PHASE 1 — ARM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JUL 20–26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106863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7175" y="384048"/>
            <a:ext cx="155448" cy="155448"/>
          </a:xfrm>
          <a:prstGeom prst="rect">
            <a:avLst/>
          </a:prstGeom>
          <a:solidFill>
            <a:srgbClr val="0000EF"/>
          </a:solidFill>
          <a:ln w="9525">
            <a:solidFill>
              <a:srgbClr val="000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7487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8111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8423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9047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836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push:  </a:t>
            </a:r>
            <a:pPr indent="0" marL="0">
              <a:buNone/>
            </a:pPr>
            <a:r>
              <a:rPr lang="en-US" sz="26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the kid ambassadors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6903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WEEK'S WORK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847088"/>
            <a:ext cx="6400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12–15 grade 7/8 ambassadors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founder's kids' network and friends-of-friends — the most networked, most credible voices to other kids.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45-minute virtual kickoff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kids plus a parent each; referral codes issued (AMB-FIRSTNAME, tracked in the how-did-you-hear field).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Soft-launch the Gauntlet Summer Tournament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ambassadors only — seed the leaderboard before it opens to the public in Week 4.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the warm network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each of Week 1's warm families for two introductions.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71232" y="13716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536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SHIPS THIS WEEK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99832" y="18288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 kit — one-page “what you do,” referral code card, 3 shareable Gauntlet images, and a plain-language parent consent note.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71232" y="336499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35295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99832" y="38039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 / text via parents · one Zoom kickoff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99832" y="4370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SCOREBOARD BY FRIDAY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9983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983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AMBASSADORS ONBOARD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03427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3427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BOOKED, CUM.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026871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6871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INTERESTED, CUM.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" y="5413248"/>
            <a:ext cx="11274552" cy="932688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046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WEEK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DELIVERS THE GOAL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31720" y="5486400"/>
            <a:ext cx="9189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biggest organic channel in the plan: 12–15 grade-7/8 kids × 3–5 genuinely interested families each = 40–70 of the 200 leads. Kids are the engine, not the audience.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 OF 8 · PHASE 2 — SEED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JUL 27–AUG 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106863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7175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7487" y="384048"/>
            <a:ext cx="155448" cy="155448"/>
          </a:xfrm>
          <a:prstGeom prst="rect">
            <a:avLst/>
          </a:prstGeom>
          <a:solidFill>
            <a:srgbClr val="0000EF"/>
          </a:solidFill>
          <a:ln w="9525">
            <a:solidFill>
              <a:srgbClr val="000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8111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8423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9047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836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push:  </a:t>
            </a:r>
            <a:pPr indent="0" marL="0">
              <a:buNone/>
            </a:pPr>
            <a:r>
              <a:rPr lang="en-US" sz="26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Gifted-parent communities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6903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WEEK'S WORK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847088"/>
            <a:ext cx="6400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Value-first founder posts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real TimeBack story from /parents, real data, real kids — in Ontario gifted/enrichment Facebook groups and ABC (Association for Bright Children) Ontario chapters.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Earn, never blast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cold links in no-promo groups; answer questions in-thread and DM the explainer PDF on request.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up where GTA parents ask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r/askTO and r/ontario parenting threads, same value-first rules.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“120 coffees”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connector parents — school-council chairs, camp directors — each one ends with an ask for two introductions.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71232" y="13716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536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SHIPS THIS WEEK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99832" y="18288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/parents story post — a 300-word founder narrative, no hype, link at the end — plus 5 canned answers to the most common objections.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71232" y="336499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35295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99832" y="38039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 groups · ABC Ontario · Reddit · coffees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99832" y="4370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SCOREBOARD BY FRIDAY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9983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983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INTERESTED, CUM. (+30)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03427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3427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BOOKED, CUM.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026871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6871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CONNECTOR COFFEES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" y="5413248"/>
            <a:ext cx="11274552" cy="932688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046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WEEK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DELIVERS THE GOAL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31720" y="5486400"/>
            <a:ext cx="9189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communities are exactly the top-1–2% parent, already searching for this — the lowest-cost lead source in the plan, and the one that keeps the 29-leads-a-week rate on track.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 OF 8 · PHASE 2 — SEED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AUG 3–9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106863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7175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7487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384048"/>
            <a:ext cx="155448" cy="155448"/>
          </a:xfrm>
          <a:prstGeom prst="rect">
            <a:avLst/>
          </a:prstGeom>
          <a:solidFill>
            <a:srgbClr val="0000EF"/>
          </a:solidFill>
          <a:ln w="9525">
            <a:solidFill>
              <a:srgbClr val="0000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8111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8423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9047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836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push:  </a:t>
            </a:r>
            <a:pPr indent="0" marL="0">
              <a:buNone/>
            </a:pPr>
            <a:r>
              <a:rPr lang="en-US" sz="26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Gauntlet goes public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6903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WEEK'S WORK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847088"/>
            <a:ext cx="6400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Gauntlet Summer Tournament to everyone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3-week public leaderboard sprint, grade bands 3–4 / 5–6 / 7–8, weekly “boss week” themes.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winning matter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winners earn a named spot on a permanent Founding Leaderboard plus the first demo slot at the October intensive.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kids to work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ambassadors challenge classmates with their codes; parents share scores (“free math game a Toronto founder built”).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funnel surface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/gauntlet landing with a parent-facing banner into the join flow; dev ticket for an auto-generated shareable score card.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71232" y="13716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536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SHIPS THIS WEEK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99832" y="18288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Gauntlet share card (auto-generated score image) + tournament rules page + weekly leaderboard email.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71232" y="336499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35295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99832" y="38039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Kid word-of-mouth · ambassador shares · parent groups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99832" y="4370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SCOREBOARD BY FRIDAY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9983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983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INTERESTED, CUM. (+35)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03427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3427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BOOKED, CUM.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026871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6871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DEPOSITS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" y="5413248"/>
            <a:ext cx="11274552" cy="932688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046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WEEK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DELIVERS THE GOAL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31720" y="5486400"/>
            <a:ext cx="9189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channel where the product markets itself to the actual member — kids recruit kids while parents see a serious math trainer. And the first 15 deposits prove the funnel end to end.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5 OF 8 · PHASE 3 — SURGE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AUG 10–16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106863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7175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7487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8111" y="384048"/>
            <a:ext cx="155448" cy="155448"/>
          </a:xfrm>
          <a:prstGeom prst="rect">
            <a:avLst/>
          </a:prstGeom>
          <a:solidFill>
            <a:srgbClr val="0000EF"/>
          </a:solidFill>
          <a:ln w="9525">
            <a:solidFill>
              <a:srgbClr val="0000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8423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9047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836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push:  </a:t>
            </a:r>
            <a:pPr indent="0" marL="0">
              <a:buNone/>
            </a:pPr>
            <a:r>
              <a:rPr lang="en-US" sz="26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Five-group verticals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6903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WEEK'S WORK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847088"/>
            <a:ext cx="6400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CEMC/Waterloo contest and Math Kangaroo parent communities, math-circle coaches: the Gauntlet as free FastMath training, The 120 as the year-round home.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rep/AAA team parent reps (GTHL, rep soccer, competitive swim): “your kid already trains like a pro at sport — this is that, for everything else.”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Makers · Founders · Givers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arts-program lists (RCM, youth film/maker camps); kid-entrepreneur fairs and DECA-adjacent parents; youth-volunteering and faith/community orgs.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CASL-clean distribution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and organizers forward to their own lists; we never blast them. Their consent relationship, not ours.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71232" y="13716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536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SHIPS THIS WEEK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99832" y="18288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one-page group sheets — same skeleton, one hero line each (e.g. “Train seriously, compete seriously, and think like a pro”).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71232" y="336499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35295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99832" y="38039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Coaches · program directors · contest-parent groups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99832" y="4370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SCOREBOARD BY FRIDAY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9983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983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INTERESTED, CUM. (+35)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03427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3427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BOOKED, CUM.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026871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6871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DEPOSITS, CUM.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" y="5413248"/>
            <a:ext cx="11274552" cy="932688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046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WEEK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DELIVERS THE GOAL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31720" y="5486400"/>
            <a:ext cx="9189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Athletes, Makers, Founders and Givers seats will never fill from math channels. One tailored outreach per group balances the five groups — so all 120 seats fill, not just Scholars.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6 OF 8 · PHASE 3 — SURGE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AUG 17–23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106863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7175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7487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8111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8423" y="384048"/>
            <a:ext cx="155448" cy="155448"/>
          </a:xfrm>
          <a:prstGeom prst="rect">
            <a:avLst/>
          </a:prstGeom>
          <a:solidFill>
            <a:srgbClr val="0000EF"/>
          </a:solidFill>
          <a:ln w="9525">
            <a:solidFill>
              <a:srgbClr val="0000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9047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836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push:  </a:t>
            </a:r>
            <a:pPr indent="0" marL="0">
              <a:buNone/>
            </a:pPr>
            <a:r>
              <a:rPr lang="en-US" sz="26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sessions week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6903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WEEK'S WORK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847088"/>
            <a:ext cx="6400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45-minute virtual info sessions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(Tue evening, Sat morning): 15 min founder story → 15 min the year in detail (project → quarterlies → Oct 31 demo) → 15 min Q&amp;A — ending on the refundable-deposit offer.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in-person Toronto meetup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or rec-room; kids play the Gauntlet live on a projector while parents talk to the founder.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Ambassadors each bring one family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give a 2-minute “why I'm in” — kid voice sells better than any deck.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machine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attendee gets a next-day recap email with the booking link.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71232" y="13716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536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SHIPS THIS WEEK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99832" y="18288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10-slide info-session deck + RSVP page (Luma/Eventbrite) + next-day recap email.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71232" y="336499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35295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99832" y="38039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Luma / Eventbrite · every prior channel invited · ambassadors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99832" y="4370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SCOREBOARD BY FRIDAY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9983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983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INTERESTED, CUM. (+30)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03427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3427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BOOKED, CUM.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026871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6871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DEPOSITS, CUM.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" y="5413248"/>
            <a:ext cx="11274552" cy="932688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046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WEEK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DELIVERS THE GOAL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31720" y="5486400"/>
            <a:ext cx="9189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 every prior channel funnels into one room. Every RSVP is a consented lead, every attendee gets a next-day recap and booking link — the bridge that turns breadth into booked calls and deposits.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7 OF 8 · PHASE 4 — LAND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AUG 24–30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106863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7175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7487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8111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8423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84048"/>
            <a:ext cx="155448" cy="155448"/>
          </a:xfrm>
          <a:prstGeom prst="rect">
            <a:avLst/>
          </a:prstGeom>
          <a:solidFill>
            <a:srgbClr val="0000EF"/>
          </a:solidFill>
          <a:ln w="9525">
            <a:solidFill>
              <a:srgbClr val="0000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9047" y="384048"/>
            <a:ext cx="155448" cy="155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836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push:  </a:t>
            </a:r>
            <a:pPr indent="0" marL="0">
              <a:buNone/>
            </a:pPr>
            <a:r>
              <a:rPr lang="en-US" sz="26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deposit push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6903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WEEK'S WORK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847088"/>
            <a:ext cx="6400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the back-to-school moment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“before the school year swallows you, reserve the seat: $250, fully refundable until Sept 30.”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3-email sequence to every non-depositor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consented list; SMS only where expressly consented.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founder call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every submitted-dossier family without a deposit.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Truthful scarcity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seat count published in every email; families deposited by Sept 1 are named the Founding 120 at the October intensive.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71232" y="13716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536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SHIPS THIS WEEK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99832" y="18288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Deposit-push sequence (3 emails) + written deposit/refund terms page — required before pushing hard.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71232" y="336499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35295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99832" y="38039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sequence · personal calls · consented SMS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99832" y="4370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SCOREBOARD BY FRIDAY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9983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983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INTERESTED, CUM. (+20)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03427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3427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BOOKED, CUM.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026871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6871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DEPOSITS, CUM.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" y="5413248"/>
            <a:ext cx="11274552" cy="932688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046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WEEK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DELIVERS THE GOAL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31720" y="5486400"/>
            <a:ext cx="9189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conversion week: back-to-school urgency meets zero risk. The whole pipeline built over six weeks gets one honest, high-pressure-free reason to commit now — and the deposit count nearly doubles.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8 OF 8 · PHASE 4 — LAND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AUG 31–SEP 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106863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7175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7487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8111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8423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84048"/>
            <a:ext cx="155448" cy="155448"/>
          </a:xfrm>
          <a:prstGeom prst="rect">
            <a:avLst/>
          </a:prstGeom>
          <a:solidFill>
            <a:srgbClr val="C2ECFD"/>
          </a:solidFill>
          <a:ln w="9525">
            <a:solidFill>
              <a:srgbClr val="C2EC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9047" y="384048"/>
            <a:ext cx="155448" cy="155448"/>
          </a:xfrm>
          <a:prstGeom prst="rect">
            <a:avLst/>
          </a:prstGeom>
          <a:solidFill>
            <a:srgbClr val="0000EF"/>
          </a:solidFill>
          <a:ln w="9525">
            <a:solidFill>
              <a:srgbClr val="000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836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FA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push:  </a:t>
            </a:r>
            <a:pPr indent="0" marL="0">
              <a:buNone/>
            </a:pPr>
            <a:r>
              <a:rPr lang="en-US" sz="26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landing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6903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WEEK'S WORK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847088"/>
            <a:ext cx="6400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nurture automation end-to-end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trigger sequences (account created, dossier submitted, call held/no deposit, deposit paid, stalled 14 days), every email ending on one CTA: book the call or finish the dossier.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ambassadors back to school armed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kits delivered, codes live, a September Gauntlet season announced.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September table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copy ready, founder's calendar open at 12 call slots/week through October, weekly-metrics dashboard reviewed.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“the year begins” — </a:t>
            </a:r>
            <a:pPr indent="0" marL="0"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#1 dates (Oct 31–Nov 1) and what happens next, to the whole consented list.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71232" y="13716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536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SHIPS THIS WEEK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99832" y="18288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Year Ahead” email + waitlist page copy.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71232" y="3364992"/>
            <a:ext cx="4160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35295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99832" y="38039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00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· ambassadors in schools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99832" y="4370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SCOREBOARD BY FRIDAY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9983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9983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INTERESTED, CUM.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03427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48–55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3427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DEPOSITS, CUM.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0268712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6871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 CALLS PRE-BOOKED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" y="5413248"/>
            <a:ext cx="11274552" cy="932688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046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WEEK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DELIVERS THE GOAL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31720" y="5486400"/>
            <a:ext cx="9189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handoff week: the sprint becomes a machine. Nurture fills the calendar on its own, ambassadors carry it into schools, and September inherits 20+ pre-booked calls to close the last ~60 seats by Sept 30.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BIGGEST ORGANIC CHANNEL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 are the engine, not the audience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91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4592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</a:t>
            </a:r>
            <a:endParaRPr lang="en-US" sz="3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75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7/8 AMBASSADORS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3–5</a:t>
            </a:r>
            <a:endParaRPr lang="en-US" sz="3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75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GENUINELY INTERESTED FAMILIES EACH</a:t>
            </a:r>
            <a:endParaRPr lang="en-US" sz="3000" dirty="0"/>
          </a:p>
          <a:p>
            <a:pPr indent="0" marL="0">
              <a:buNone/>
            </a:pPr>
            <a:r>
              <a:rPr lang="en-US" sz="24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40–70 leads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77640" y="1417320"/>
            <a:ext cx="775411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33672" y="15819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AMBASSADORS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33672" y="1901952"/>
            <a:ext cx="72420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1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friends to the Gauntlet</a:t>
            </a:r>
            <a:pPr indent="0" marL="0"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their referral code rides on every shared score card.</a:t>
            </a:r>
            <a:endParaRPr lang="en-US" sz="95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1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family to an info session</a:t>
            </a:r>
            <a:pPr indent="0" marL="0"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or to the August in-person Toronto meetup.</a:t>
            </a:r>
            <a:endParaRPr lang="en-US" sz="95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1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2-minute “why I'm in”</a:t>
            </a:r>
            <a:pPr indent="0" marL="0"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kid voice sells better than any deck, at every info session.</a:t>
            </a:r>
            <a:endParaRPr lang="en-US" sz="95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1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off the Tin Can</a:t>
            </a:r>
            <a:pPr indent="0" marL="0"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bat phone is a physical, enviable object friends ask about.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11274552" cy="1508760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4988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INCENTIVES — RECOGNITION, NEVER CASH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47731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Ambassador title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(named in the Address Book, badge at the intensive) ·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Gauntlet glory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(permanent leaderboard flair, early boss access) ·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perks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(first demo slot, ambassador table) ·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shout-outs, never per-head bounties.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spc="1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ETHICS + CASL: NO PAYMENTS TO MINORS · NO QUOTAS · PARENT CONSENT, OPT-OUT ANYTIME · KIDS SHARE PERSON-TO-PERSON; THE COMPANY ONLY EMAILS EXPRESS OPT-INS · LEADS ARRIVE BY THE FAMILY ACTING THEMSELVES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</a:t>
            </a:r>
            <a:pPr indent="0" marL="0">
              <a:buNone/>
            </a:pPr>
            <a:r>
              <a:rPr lang="en-US" sz="100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HAND-OFF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1 — definition of done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237744" cy="237744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26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consented families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email system, tagged by stage and source.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426464"/>
            <a:ext cx="237744" cy="237744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426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29400" y="1371600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48+ deposits paid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live Stripe, verified — seat count showing ~58–65 left.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85416"/>
            <a:ext cx="237744" cy="237744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85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130552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link open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slots/week through October; 20+ September calls booked.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2185416"/>
            <a:ext cx="237744" cy="237744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185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2130552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nurture running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calendar fills itself (sequences below).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237744" cy="237744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44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889504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 ambassadors in school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kits, codes, and a September Gauntlet season.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237744" cy="237744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944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2889504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#1 sellable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31–Nov 1 date and city in all copy; venue locked.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237744" cy="237744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03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648456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mechanics ready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copy, form and admin flow for when groups fill — Scholars will likely cap first.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11274552" cy="1371600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634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CALENDAR-FILLING MACHINE — EVERY EMAIL ENDS ON ONE CTA: BOOK THE CALL OR FINISH THE DOSSIER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" y="4956048"/>
            <a:ext cx="20080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CREATED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31520" y="5175504"/>
            <a:ext cx="20080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→ dossier nudge → founder story → book the call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76702" y="4956048"/>
            <a:ext cx="20080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 SUBMITTED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876702" y="5175504"/>
            <a:ext cx="20080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+ booking → what review looks for → founder note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1885" y="4956048"/>
            <a:ext cx="20080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CALL, NO DEPOSIT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021885" y="5175504"/>
            <a:ext cx="20080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+ deposit link → live seat count → final personal email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67067" y="4956048"/>
            <a:ext cx="20080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 PAID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167067" y="5175504"/>
            <a:ext cx="20080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Founding 120 → intensive details → referral ask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312250" y="4956048"/>
            <a:ext cx="20080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STALLED 14 DAYS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312250" y="5175504"/>
            <a:ext cx="20080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re-engagement email, then monthly digest only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60167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SEPTEMBER RUNS ITSELF: LABOUR-DAY “SCHOOL JUST REMINDED YOU WHY” EMAIL · MID-SEPT REFUNDABILITY COUNTDOWN (WINDOW CLOSES SEPT 30) · EVERY DEPOSITED FAMILY ASKED FOR ONE INTRODUCTION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THE NOTABLE GROUP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008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</a:t>
            </a:r>
            <a:pPr indent="0" marL="0">
              <a:buNone/>
            </a:pPr>
            <a:r>
              <a:rPr lang="en-US" sz="100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 — FOR THE NOTABLE GROUP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would </a:t>
            </a:r>
            <a:pPr indent="0" marL="0">
              <a:buNone/>
            </a:pPr>
            <a:r>
              <a:rPr lang="en-US" sz="3800" b="1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Notable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compound this?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built to run on a solo founder's ~20 hours a week — and it will run regardless. What we want from The Notable Group is a proposal: across these eight weeks, where would your capabilities make the plan meaningfully bigger, faster, or louder than one founder can?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266090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47C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364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363931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&amp; PR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98678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Toronto founder story with real data, a $250 risk-reversal hook, and an Oct 31 demo-day moment — what earns coverage?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28416" y="3200400"/>
            <a:ext cx="266090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47C4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3364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29584" y="363931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&amp; digital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9584" y="398678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Gauntlet tournament, share cards, and /parents stories — what turns organic mechanics into reach?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99632" y="3200400"/>
            <a:ext cx="266090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47C4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64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0" y="363931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influencer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98678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Gifted-parent groups, coaches, connector parents — who amplifies credibly without breaking the value-first rules?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70848" y="3200400"/>
            <a:ext cx="266090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47C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2016" y="3364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72016" y="363931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Experiential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72016" y="398678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sessions, the August meetup, the Oct 31–Nov 1 intensive — what makes them unmissable?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spc="15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TIMING: </a:t>
            </a:r>
            <a:pPr indent="0" marL="0">
              <a:lnSpc>
                <a:spcPct val="140000"/>
              </a:lnSpc>
              <a:buNone/>
            </a:pPr>
            <a:r>
              <a:rPr lang="en-US" sz="900" spc="15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SPRINT WENT LIVE JULY 13 — WEEK 1 IS ALREADY IN FLIGHT. EVERY WEEK EARLIER YOU'RE IN, THE MORE THE WORK COMPOUNDS.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PETER KUPERMAN, FOUNDER · PETER@THE120.SCHOOL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2026-07-14T12:24:23Z</dcterms:created>
  <dcterms:modified xsi:type="dcterms:W3CDTF">2026-07-14T12:24:23Z</dcterms:modified>
</cp:coreProperties>
</file>